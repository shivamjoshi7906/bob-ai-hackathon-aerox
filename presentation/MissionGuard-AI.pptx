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ukta Bold" panose="020B0604020202020204" charset="0"/>
      <p:regular r:id="rId17"/>
    </p:embeddedFont>
    <p:embeddedFont>
      <p:font typeface="Mukta Light" panose="020B0604020202020204" charset="0"/>
      <p:regular r:id="rId18"/>
    </p:embeddedFont>
    <p:embeddedFont>
      <p:font typeface="Prompt Light" panose="020B0502040204020203" pitchFamily="2" charset="-34"/>
      <p:regular r:id="rId19"/>
    </p:embeddedFont>
    <p:embeddedFont>
      <p:font typeface="Prompt Medium" panose="020B0502040204020203" pitchFamily="2" charset="-34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57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10" Type="http://schemas.openxmlformats.org/officeDocument/2006/relationships/image" Target="../media/image3.pn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5.svg"/><Relationship Id="rId7" Type="http://schemas.openxmlformats.org/officeDocument/2006/relationships/hyperlink" Target="https://github.com/ShivamJoshi7906/bob-ai-hackathon-Aero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1842393"/>
            <a:ext cx="4827566" cy="279003"/>
          </a:xfrm>
          <a:prstGeom prst="roundRect">
            <a:avLst>
              <a:gd name="adj" fmla="val 22108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1897459"/>
            <a:ext cx="5216891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AEROX · BOB AI HACKATHON 2026 · CHALLENGE D1 — DEFENSE &amp; AEROSPACE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194818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MissionGuard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4200" y="2778224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Mission Readiness &amp; Predictive Maintenance Copilot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9526" y="3515023"/>
            <a:ext cx="110575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"Know what's mission-ready. Predict what's next. Act before failure."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4200" y="3308548"/>
            <a:ext cx="25399" cy="706636"/>
          </a:xfrm>
          <a:prstGeom prst="roundRect">
            <a:avLst>
              <a:gd name="adj" fmla="val 50001"/>
            </a:avLst>
          </a:prstGeom>
          <a:solidFill>
            <a:srgbClr val="A95B95"/>
          </a:solidFill>
          <a:ln/>
        </p:spPr>
      </p:sp>
      <p:sp>
        <p:nvSpPr>
          <p:cNvPr id="8" name="Text 6"/>
          <p:cNvSpPr/>
          <p:nvPr/>
        </p:nvSpPr>
        <p:spPr>
          <a:xfrm>
            <a:off x="734200" y="4221659"/>
            <a:ext cx="107232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Powered by </a:t>
            </a: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IBM Bob Copilot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Dhruvi Kundariya (Lead) · Marshal Godhani · Shivam Joshi · Shreya Adroja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6A084F-D704-E1AB-2FCC-4F60F081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63" y="6545553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43744"/>
            <a:ext cx="1017264" cy="264914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8774" y="796032"/>
            <a:ext cx="1417701" cy="16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4200" y="1074837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Military Maintenance Is Broken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820122" y="1894780"/>
            <a:ext cx="3264513" cy="57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$90B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34200" y="2681684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Annual Cost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4200" y="3023195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 Military spends $90 Billion per year on maintenance — 30% is unnecessary or reactive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63541" y="1894780"/>
            <a:ext cx="3264513" cy="57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13+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377620" y="2681684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Sensor Channels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77620" y="3023195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HUMS channels per aircraft sit in silos, uncorrelated by any human team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06961" y="1894780"/>
            <a:ext cx="3264612" cy="57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38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8021040" y="2681684"/>
            <a:ext cx="34364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Engines Monitored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21040" y="3023195"/>
            <a:ext cx="34364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Fleet-scale complexity that no manual process can manage simultaneously</a:t>
            </a:r>
            <a:endParaRPr lang="en-US" sz="13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3753644"/>
            <a:ext cx="3464037" cy="236061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3771" y="3947021"/>
            <a:ext cx="3001094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Calendar-Based Blindness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3771" y="4288532"/>
            <a:ext cx="3001094" cy="1360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Maintenance runs on fixed schedules regardless of actual engine wear. A degrading turbofan can be silently failing while the calendar shows it as "safe" — creating catastrophic false confidence.</a:t>
            </a:r>
            <a:endParaRPr lang="en-US" sz="13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3829" y="3753644"/>
            <a:ext cx="3464037" cy="236061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33400" y="3947021"/>
            <a:ext cx="3001094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Unanalyzed Sensor Goldmine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33400" y="4288532"/>
            <a:ext cx="3001094" cy="163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13+ real-time HUMS sensor channels per aircraft sit in silos. No human team can manually correlate drifting sensor dimensions across 38 engines simultaneously — the data exists but remains operationally invisible.</a:t>
            </a:r>
            <a:endParaRPr lang="en-US" sz="13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3458" y="3753644"/>
            <a:ext cx="3464037" cy="23606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63028" y="3947021"/>
            <a:ext cx="3001094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Catastrophic Mission Gaps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63028" y="4288532"/>
            <a:ext cx="3001094" cy="1360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When engines fail mid-sortie, missions abort and fleet recovery takes weeks. The US military loses billions annually to reactive, unplanned groundings that were entirely preventable.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B4F686E-1140-6207-6446-DBB703A0C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45553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60288"/>
            <a:ext cx="956048" cy="233362"/>
          </a:xfrm>
          <a:prstGeom prst="roundRect">
            <a:avLst>
              <a:gd name="adj" fmla="val 22116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26273" y="606326"/>
            <a:ext cx="1381487" cy="141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4200" y="845046"/>
            <a:ext cx="1072329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MissionGuard AI — End-to-End Operational Copilot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34200" y="1464469"/>
            <a:ext cx="10723294" cy="451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core question we solve: </a:t>
            </a:r>
            <a:r>
              <a:rPr lang="en-US" sz="12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"Can this engine survive its next mission — and if not, why, and what must maintenance do first?"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MissionGuard AI answers this through a fully automated 6-step intelligence pipeline that transforms raw sensor data into commander-ready decisions.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2060277"/>
            <a:ext cx="5361647" cy="6143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7787" y="2803128"/>
            <a:ext cx="50544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DETECT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7787" y="3093541"/>
            <a:ext cx="505447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Ingest 13-channel sensor telemetry &amp; maintenance logs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060277"/>
            <a:ext cx="5361647" cy="6143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9434" y="2803128"/>
            <a:ext cx="50544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PREDICT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49434" y="3093541"/>
            <a:ext cx="505447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RUL Regression + 30-Cycle Failure Classifier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3472755"/>
            <a:ext cx="5361647" cy="6143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7787" y="4215606"/>
            <a:ext cx="50544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ASSESS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87787" y="4506020"/>
            <a:ext cx="505447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Mission-window compatibility scoring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472755"/>
            <a:ext cx="5361647" cy="6143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49434" y="4215606"/>
            <a:ext cx="50544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EXPLAIN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249434" y="4506020"/>
            <a:ext cx="505447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Physical sensor drift evidence in human language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00" y="4885234"/>
            <a:ext cx="5361647" cy="6143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7787" y="5628084"/>
            <a:ext cx="50544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87787" y="5918498"/>
            <a:ext cx="505447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P1 Critical / P2 Urgent / P3 Scheduled queue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8" y="4885234"/>
            <a:ext cx="5361647" cy="6143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49434" y="5628084"/>
            <a:ext cx="50544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249434" y="5918498"/>
            <a:ext cx="505447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IBM Bob Copilot conversational answers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84D12B-2803-BA11-CA4A-2C05B3D721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1763" y="6540888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47514"/>
            <a:ext cx="846315" cy="209153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6748" y="788789"/>
            <a:ext cx="1290804" cy="12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4200" y="997942"/>
            <a:ext cx="10723294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5-Tier Full-Stack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4200" y="1535311"/>
            <a:ext cx="10723294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MissionGuard AI is engineered as a production-grade, layered system — each tier handles a distinct operational responsibility, from raw data ingestion to conversational commander intelligence. The architecture is designed for zero-latency inference, strict data integrity, and seamless IBM Bob Copilot integration.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4200" y="2036961"/>
            <a:ext cx="1072329" cy="721122"/>
          </a:xfrm>
          <a:prstGeom prst="roundRect">
            <a:avLst>
              <a:gd name="adj" fmla="val 801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3530" y="2276475"/>
            <a:ext cx="193571" cy="241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44143" y="2174577"/>
            <a:ext cx="937573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 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44143" y="2427684"/>
            <a:ext cx="937573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React 18 · TypeScript · Vite · Tailwind CSS · 6 Dashboard Views · Recharts Telemetry Charts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75287" y="2750145"/>
            <a:ext cx="9513451" cy="9525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1" name="Shape 9"/>
          <p:cNvSpPr/>
          <p:nvPr/>
        </p:nvSpPr>
        <p:spPr>
          <a:xfrm>
            <a:off x="734200" y="2826841"/>
            <a:ext cx="2144659" cy="721122"/>
          </a:xfrm>
          <a:prstGeom prst="roundRect">
            <a:avLst>
              <a:gd name="adj" fmla="val 801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695" y="3066355"/>
            <a:ext cx="193571" cy="241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6472" y="2964458"/>
            <a:ext cx="830340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IBM Bob 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6472" y="3217565"/>
            <a:ext cx="830340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 MCP Decision Tools → Bob Reasoning Engine → Zero Hallucination Answers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47616" y="3540026"/>
            <a:ext cx="8441122" cy="9525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4200" y="3616722"/>
            <a:ext cx="3216988" cy="721122"/>
          </a:xfrm>
          <a:prstGeom prst="roundRect">
            <a:avLst>
              <a:gd name="adj" fmla="val 801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5859" y="3856236"/>
            <a:ext cx="193571" cy="241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88802" y="3754338"/>
            <a:ext cx="7231080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 Tier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88802" y="4007445"/>
            <a:ext cx="7231080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FastAPI · 11 Endpoints · SQLAlchemy ORM · Risk Engine · Readiness Engine · Maintenance Prioritization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19946" y="4329906"/>
            <a:ext cx="7368792" cy="9525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4200" y="4406602"/>
            <a:ext cx="4289318" cy="721122"/>
          </a:xfrm>
          <a:prstGeom prst="roundRect">
            <a:avLst>
              <a:gd name="adj" fmla="val 801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2024" y="4646116"/>
            <a:ext cx="193571" cy="241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61131" y="4544219"/>
            <a:ext cx="61587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ML Tier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1131" y="4797326"/>
            <a:ext cx="615875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Feature Extractor (Rolling Mean/Std/Delta) → RUL Regressor + Failure Classifier → .joblib Model Artifacts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92275" y="5119787"/>
            <a:ext cx="6296463" cy="9525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26" name="Shape 24"/>
          <p:cNvSpPr/>
          <p:nvPr/>
        </p:nvSpPr>
        <p:spPr>
          <a:xfrm>
            <a:off x="734200" y="5196483"/>
            <a:ext cx="5361647" cy="913904"/>
          </a:xfrm>
          <a:prstGeom prst="roundRect">
            <a:avLst>
              <a:gd name="adj" fmla="val 6327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8189" y="5532438"/>
            <a:ext cx="193571" cy="241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33460" y="5334099"/>
            <a:ext cx="508642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Tier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3460" y="5587206"/>
            <a:ext cx="5086421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NASA C-MAPSS FD001 Turbofan Telemetry (100 engines, 13 sensor channels) + Aviation Maintenance Logs → SQLite Database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CD23356-34F8-7D71-9079-7006F2259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63" y="6473176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78755"/>
            <a:ext cx="1150016" cy="223143"/>
          </a:xfrm>
          <a:prstGeom prst="roundRect">
            <a:avLst>
              <a:gd name="adj" fmla="val 22114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22304" y="722809"/>
            <a:ext cx="158339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4200" y="948829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Zero Data-Leakage Machine Learning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28535" y="1532930"/>
            <a:ext cx="4839770" cy="4646216"/>
          </a:xfrm>
          <a:prstGeom prst="roundRect">
            <a:avLst>
              <a:gd name="adj" fmla="val 2276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5375" y="1650405"/>
            <a:ext cx="454608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Entity-Isolated Data Splits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5375" y="1971873"/>
            <a:ext cx="454608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aircraft appears in more than one split — guaranteeing honest evaluation on truly unseen assets.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5375" y="2500412"/>
            <a:ext cx="4546089" cy="71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Train: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27 aircraft (70%)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Validation: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6 aircraft (15%)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Test: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5 aircraft (15%)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5375" y="3349030"/>
            <a:ext cx="4546089" cy="707628"/>
          </a:xfrm>
          <a:prstGeom prst="roundRect">
            <a:avLst>
              <a:gd name="adj" fmla="val 8717"/>
            </a:avLst>
          </a:prstGeom>
          <a:solidFill>
            <a:srgbClr val="542C4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15" y="3520777"/>
            <a:ext cx="183550" cy="1468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52605" y="3491409"/>
            <a:ext cx="392201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Key Rule:</a:t>
            </a: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Backward-looking rolling statistics only — no future data leakage.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27160" y="1650405"/>
            <a:ext cx="5736585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1: RUL Regression (Random Forest)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727160" y="1986558"/>
            <a:ext cx="2809507" cy="839291"/>
          </a:xfrm>
          <a:prstGeom prst="roundRect">
            <a:avLst>
              <a:gd name="adj" fmla="val 734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80350" y="2139752"/>
            <a:ext cx="250312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R² = 0.6887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880350" y="2461220"/>
            <a:ext cx="250312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Variance explained on unseen test data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54139" y="1986558"/>
            <a:ext cx="2809606" cy="839291"/>
          </a:xfrm>
          <a:prstGeom prst="roundRect">
            <a:avLst>
              <a:gd name="adj" fmla="val 734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07329" y="2139752"/>
            <a:ext cx="2503226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MAE = 25.44 cycles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807329" y="2461220"/>
            <a:ext cx="2503226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Mean absolute error on held-out engines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727160" y="2943324"/>
            <a:ext cx="5736585" cy="839291"/>
          </a:xfrm>
          <a:prstGeom prst="roundRect">
            <a:avLst>
              <a:gd name="adj" fmla="val 734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80350" y="3096518"/>
            <a:ext cx="5430206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RMSE = 33.57 cycles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880350" y="3417987"/>
            <a:ext cx="5430206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Root mean squared error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727160" y="3914775"/>
            <a:ext cx="5736585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2: 30-Cycle Failure Classifier (Class-Weighted)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727160" y="4250928"/>
            <a:ext cx="2809507" cy="839291"/>
          </a:xfrm>
          <a:prstGeom prst="roundRect">
            <a:avLst>
              <a:gd name="adj" fmla="val 734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80350" y="4404122"/>
            <a:ext cx="250312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ROC-AUC = 0.9771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880350" y="4725591"/>
            <a:ext cx="250312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97.7% discrimination on unseen test data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54139" y="4250928"/>
            <a:ext cx="2809606" cy="839291"/>
          </a:xfrm>
          <a:prstGeom prst="roundRect">
            <a:avLst>
              <a:gd name="adj" fmla="val 734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07329" y="4404122"/>
            <a:ext cx="2503226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F1-Score = 0.8073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807329" y="4725591"/>
            <a:ext cx="2503226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Balanced precision and recall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727160" y="5207695"/>
            <a:ext cx="5736585" cy="839291"/>
          </a:xfrm>
          <a:prstGeom prst="roundRect">
            <a:avLst>
              <a:gd name="adj" fmla="val 734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80350" y="5360888"/>
            <a:ext cx="5430206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Recall = 85.16%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880350" y="5682357"/>
            <a:ext cx="5430206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Captures the vast majority of imminent failures</a:t>
            </a:r>
            <a:endParaRPr lang="en-US" sz="11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9502AB8-0B8A-C920-12F1-627A9D47E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45553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89459"/>
            <a:ext cx="1074810" cy="223143"/>
          </a:xfrm>
          <a:prstGeom prst="roundRect">
            <a:avLst>
              <a:gd name="adj" fmla="val 22114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22304" y="633512"/>
            <a:ext cx="1508186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CORE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4200" y="859532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Mission-Window Buffer Scoring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34200" y="1443633"/>
            <a:ext cx="10723294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proprietary readiness metric translates raw ML predictions into an operationally meaningful decision variable that commanders can act on immediately — no interpretation required.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4200" y="1998663"/>
            <a:ext cx="10723294" cy="719435"/>
          </a:xfrm>
          <a:prstGeom prst="roundRect">
            <a:avLst>
              <a:gd name="adj" fmla="val 8574"/>
            </a:avLst>
          </a:prstGeom>
          <a:solidFill>
            <a:srgbClr val="542C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40" y="2164060"/>
            <a:ext cx="183550" cy="1468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1431" y="2152848"/>
            <a:ext cx="10099224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Mission Buffer = Predicted RUL − Required Mission Cycles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positive buffer means the engine survives. A negative buffer means it doesn't — and by how much.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4200" y="2850257"/>
            <a:ext cx="10723294" cy="1584523"/>
          </a:xfrm>
          <a:prstGeom prst="roundRect">
            <a:avLst>
              <a:gd name="adj" fmla="val 3893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550" y="2856607"/>
            <a:ext cx="5355297" cy="785912"/>
          </a:xfrm>
          <a:custGeom>
            <a:avLst/>
            <a:gdLst/>
            <a:ahLst/>
            <a:cxnLst/>
            <a:rect l="l" t="t" r="r" b="b"/>
            <a:pathLst>
              <a:path w="5355297" h="785912">
                <a:moveTo>
                  <a:pt x="51401" y="0"/>
                </a:moveTo>
                <a:lnTo>
                  <a:pt x="5355297" y="0"/>
                </a:lnTo>
                <a:lnTo>
                  <a:pt x="5355297" y="785912"/>
                </a:lnTo>
                <a:lnTo>
                  <a:pt x="0" y="785912"/>
                </a:lnTo>
                <a:lnTo>
                  <a:pt x="0" y="51402"/>
                </a:lnTo>
                <a:arcTo wR="51401" hR="51402" stAng="10800000" swAng="5400000"/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887390" y="3003451"/>
            <a:ext cx="506161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2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GREEN — READY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87390" y="3284240"/>
            <a:ext cx="506161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Buffer ≥ 15 cycles. Safe to assign to any mission profile.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95848" y="2856607"/>
            <a:ext cx="5355297" cy="785912"/>
          </a:xfrm>
          <a:custGeom>
            <a:avLst/>
            <a:gdLst/>
            <a:ahLst/>
            <a:cxnLst/>
            <a:rect l="l" t="t" r="r" b="b"/>
            <a:pathLst>
              <a:path w="5355297" h="785912">
                <a:moveTo>
                  <a:pt x="0" y="0"/>
                </a:moveTo>
                <a:lnTo>
                  <a:pt x="5303896" y="0"/>
                </a:lnTo>
                <a:arcTo wR="51401" hR="51402" stAng="16200000" swAng="5400000"/>
                <a:lnTo>
                  <a:pt x="5355297" y="785912"/>
                </a:lnTo>
                <a:lnTo>
                  <a:pt x="0" y="785912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48" y="2856607"/>
            <a:ext cx="19050" cy="785912"/>
          </a:xfrm>
          <a:prstGeom prst="roundRect">
            <a:avLst>
              <a:gd name="adj" fmla="val 49999"/>
            </a:avLst>
          </a:prstGeom>
          <a:solidFill>
            <a:srgbClr val="3E7CFF"/>
          </a:solidFill>
          <a:ln/>
        </p:spPr>
      </p:sp>
      <p:sp>
        <p:nvSpPr>
          <p:cNvPr id="15" name="Text 12"/>
          <p:cNvSpPr/>
          <p:nvPr/>
        </p:nvSpPr>
        <p:spPr>
          <a:xfrm>
            <a:off x="6242688" y="3003451"/>
            <a:ext cx="506161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r>
              <a:rPr lang="en-US" sz="12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READY WITH MONITORING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42688" y="3284240"/>
            <a:ext cx="506161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Buffer 5–15 cycles. Assignable, but watch sensor trends closely.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0550" y="3642519"/>
            <a:ext cx="5355297" cy="785912"/>
          </a:xfrm>
          <a:custGeom>
            <a:avLst/>
            <a:gdLst/>
            <a:ahLst/>
            <a:cxnLst/>
            <a:rect l="l" t="t" r="r" b="b"/>
            <a:pathLst>
              <a:path w="5355297" h="785912">
                <a:moveTo>
                  <a:pt x="0" y="0"/>
                </a:moveTo>
                <a:lnTo>
                  <a:pt x="5355297" y="0"/>
                </a:lnTo>
                <a:lnTo>
                  <a:pt x="5355297" y="785912"/>
                </a:lnTo>
                <a:lnTo>
                  <a:pt x="51401" y="785912"/>
                </a:lnTo>
                <a:arcTo wR="51401" hR="51402" stAng="5400000" swAng="5400000"/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Shape 15"/>
          <p:cNvSpPr/>
          <p:nvPr/>
        </p:nvSpPr>
        <p:spPr>
          <a:xfrm>
            <a:off x="740550" y="3642519"/>
            <a:ext cx="5355297" cy="19050"/>
          </a:xfrm>
          <a:prstGeom prst="roundRect">
            <a:avLst>
              <a:gd name="adj" fmla="val 49999"/>
            </a:avLst>
          </a:prstGeom>
          <a:solidFill>
            <a:srgbClr val="BF5D00"/>
          </a:solidFill>
          <a:ln/>
        </p:spPr>
      </p:sp>
      <p:sp>
        <p:nvSpPr>
          <p:cNvPr id="19" name="Text 16"/>
          <p:cNvSpPr/>
          <p:nvPr/>
        </p:nvSpPr>
        <p:spPr>
          <a:xfrm>
            <a:off x="887390" y="3789362"/>
            <a:ext cx="506161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AMBER — NEEDS INSPECTION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87390" y="4070152"/>
            <a:ext cx="506161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Buffer 0–5 cycles. Inspect before assigning. Elevated risk.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95848" y="3642519"/>
            <a:ext cx="5355297" cy="785912"/>
          </a:xfrm>
          <a:custGeom>
            <a:avLst/>
            <a:gdLst/>
            <a:ahLst/>
            <a:cxnLst/>
            <a:rect l="l" t="t" r="r" b="b"/>
            <a:pathLst>
              <a:path w="5355297" h="785912">
                <a:moveTo>
                  <a:pt x="0" y="0"/>
                </a:moveTo>
                <a:lnTo>
                  <a:pt x="5355297" y="0"/>
                </a:lnTo>
                <a:lnTo>
                  <a:pt x="5355297" y="734509"/>
                </a:lnTo>
                <a:arcTo wR="51401" hR="51402" stAng="0" swAng="5400000"/>
                <a:lnTo>
                  <a:pt x="0" y="785912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5848" y="3642519"/>
            <a:ext cx="19050" cy="785912"/>
          </a:xfrm>
          <a:prstGeom prst="roundRect">
            <a:avLst>
              <a:gd name="adj" fmla="val 49999"/>
            </a:avLst>
          </a:prstGeom>
          <a:solidFill>
            <a:srgbClr val="F53F3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5848" y="3642519"/>
            <a:ext cx="5355297" cy="19050"/>
          </a:xfrm>
          <a:prstGeom prst="roundRect">
            <a:avLst>
              <a:gd name="adj" fmla="val 49999"/>
            </a:avLst>
          </a:prstGeom>
          <a:solidFill>
            <a:srgbClr val="F53F3F"/>
          </a:solidFill>
          <a:ln/>
        </p:spPr>
      </p:sp>
      <p:sp>
        <p:nvSpPr>
          <p:cNvPr id="24" name="Text 21"/>
          <p:cNvSpPr/>
          <p:nvPr/>
        </p:nvSpPr>
        <p:spPr>
          <a:xfrm>
            <a:off x="6242688" y="3789362"/>
            <a:ext cx="506161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2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RED — NOT READY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242688" y="4070152"/>
            <a:ext cx="506161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Buffer &lt; 0. Cannot survive mission. Ground immediately.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8535" y="4566940"/>
            <a:ext cx="5393892" cy="1701502"/>
          </a:xfrm>
          <a:prstGeom prst="roundRect">
            <a:avLst>
              <a:gd name="adj" fmla="val 6214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75375" y="4684415"/>
            <a:ext cx="510021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Live Example — Asset AC-003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75375" y="5005884"/>
            <a:ext cx="5100212" cy="1221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Predicted RUL: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18.4 cycles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Mission Requires: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33.0 cycles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Buffer: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−14.6 cycles (DEFICIT)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Failure Probability: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88%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Status:</a:t>
            </a: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NOT READY — GROUND IMMEDIATELY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281283" y="4684415"/>
            <a:ext cx="518256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This Metric Wins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281283" y="5005884"/>
            <a:ext cx="518256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Traditional RUL numbers are abstract. Mission Buffer is concrete — it directly answers the commander's actual question: "Can this asset fly this mission?" The 4-tier color coding maps directly to existing military decision protocols.</a:t>
            </a:r>
            <a:endParaRPr lang="en-US" sz="11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30086C2-1723-CF97-4EA3-E8CF06412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763" y="6545553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1352848"/>
            <a:ext cx="1016967" cy="223143"/>
          </a:xfrm>
          <a:prstGeom prst="roundRect">
            <a:avLst>
              <a:gd name="adj" fmla="val 22114"/>
            </a:avLst>
          </a:prstGeom>
          <a:noFill/>
          <a:ln w="6350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304" y="1396901"/>
            <a:ext cx="145034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IBM BOB COPILOT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4200" y="1622921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IBM Bob — 9 Decision Tools, Zero Hallucinations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34200" y="2324497"/>
            <a:ext cx="518256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9 Registered MCP Tools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4200" y="2660650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4200" y="2891234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8" name="Text 6"/>
          <p:cNvSpPr/>
          <p:nvPr/>
        </p:nvSpPr>
        <p:spPr>
          <a:xfrm>
            <a:off x="734200" y="3002756"/>
            <a:ext cx="1649173" cy="224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get_fleet_summary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00845" y="2660650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00845" y="2891234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1" name="Text 9"/>
          <p:cNvSpPr/>
          <p:nvPr/>
        </p:nvSpPr>
        <p:spPr>
          <a:xfrm>
            <a:off x="2500845" y="3002756"/>
            <a:ext cx="1649173" cy="224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get_not_ready_assets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67490" y="2660650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67490" y="2891234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4267490" y="3002756"/>
            <a:ext cx="1649173" cy="224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get_asset_status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4200" y="3454499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4200" y="3685084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7" name="Text 15"/>
          <p:cNvSpPr/>
          <p:nvPr/>
        </p:nvSpPr>
        <p:spPr>
          <a:xfrm>
            <a:off x="734200" y="3796605"/>
            <a:ext cx="1649173" cy="224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get_asset_prediction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00845" y="3454499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00845" y="3685084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0" name="Text 18"/>
          <p:cNvSpPr/>
          <p:nvPr/>
        </p:nvSpPr>
        <p:spPr>
          <a:xfrm>
            <a:off x="2500845" y="3796605"/>
            <a:ext cx="1649173" cy="224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get_asset_risk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67490" y="3454499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67490" y="3685084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4267490" y="3796605"/>
            <a:ext cx="1649173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get_asset_sensor_trends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4200" y="4472484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07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4200" y="4703068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734200" y="4814590"/>
            <a:ext cx="1649173" cy="224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get_upcoming_mission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00845" y="4472484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00845" y="4703068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9" name="Text 27"/>
          <p:cNvSpPr/>
          <p:nvPr/>
        </p:nvSpPr>
        <p:spPr>
          <a:xfrm>
            <a:off x="2500845" y="4814590"/>
            <a:ext cx="1649173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get_maintenance_recommendations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67490" y="4472484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09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67490" y="4703068"/>
            <a:ext cx="1649173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32" name="Text 30"/>
          <p:cNvSpPr/>
          <p:nvPr/>
        </p:nvSpPr>
        <p:spPr>
          <a:xfrm>
            <a:off x="4267490" y="4814590"/>
            <a:ext cx="1649173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search_maintenance_knowledge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5617" y="2207022"/>
            <a:ext cx="5393892" cy="3298130"/>
          </a:xfrm>
          <a:prstGeom prst="roundRect">
            <a:avLst>
              <a:gd name="adj" fmla="val 3206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22457" y="2324497"/>
            <a:ext cx="510021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 Mandatory Questions — Answered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22457" y="2660650"/>
            <a:ext cx="330390" cy="33039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9776" y="2703513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70320" y="2711053"/>
            <a:ext cx="1154282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"Which assets are NOT ready?"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770320" y="3440509"/>
            <a:ext cx="1154282" cy="148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AC-003 (Buffer −14.6), AC-015 (Buffer −9.2), AC-024 (Buffer −4.1) — each with failure probabilities and sensor evidence.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71442" y="2660650"/>
            <a:ext cx="330390" cy="33039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760" y="2703513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19304" y="2711053"/>
            <a:ext cx="1154282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"Why is AC-003 not ready?"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519304" y="3440509"/>
            <a:ext cx="1154282" cy="190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RUL 18.4 vs 33-cycle mission. Sensor s2 (LPC Temp) +2.8σ drift. Core speed s9 dropping −1.4σ. Physical, explainable evidence.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820426" y="2660650"/>
            <a:ext cx="330390" cy="330398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87744" y="2703513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268288" y="2711053"/>
            <a:ext cx="1154282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"What should maintenance do first?"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268288" y="3440509"/>
            <a:ext cx="1154282" cy="148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P1 Critical: High-Pressure Turbine Borescope Inspection + Blade Replacement for AC-003, logbook-referenced.</a:t>
            </a:r>
            <a:endParaRPr lang="en-US" sz="11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A5E42E4-8503-660C-3080-D8DA10181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63" y="6545553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55724"/>
            <a:ext cx="1138804" cy="209153"/>
          </a:xfrm>
          <a:prstGeom prst="roundRect">
            <a:avLst>
              <a:gd name="adj" fmla="val 22118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16748" y="596999"/>
            <a:ext cx="1583293" cy="12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 &amp; 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4200" y="806152"/>
            <a:ext cx="10723294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Aerospace Operations Console + Live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4200" y="1446709"/>
            <a:ext cx="5746705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 Dashboard Views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753989"/>
            <a:ext cx="275325" cy="275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507" y="1801316"/>
            <a:ext cx="534239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Fleet Dashboard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8507" y="2095698"/>
            <a:ext cx="534239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38 aircraft readiness KPIs at a glance — red/amber/green status across the entire fleet.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2494955"/>
            <a:ext cx="275325" cy="275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8507" y="2542282"/>
            <a:ext cx="534239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Asset Detail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8507" y="2836664"/>
            <a:ext cx="534239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RUL gauge, mission buffer score, and physical sensor drift evidence for any single engine.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235920"/>
            <a:ext cx="275325" cy="2753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8507" y="3283248"/>
            <a:ext cx="534239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Sensor Analytics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8507" y="3577630"/>
            <a:ext cx="5342399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13-channel interactive Recharts telemetry — detect anomalies visually before they become failures.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4169668"/>
            <a:ext cx="275325" cy="2753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8507" y="4216995"/>
            <a:ext cx="534239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Maintenance Center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38507" y="4511377"/>
            <a:ext cx="534239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P1/P2/P3 prioritized work queue — maintenance teams know exactly what to do first.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4910634"/>
            <a:ext cx="275325" cy="2753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38507" y="4957961"/>
            <a:ext cx="534239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Mission Windows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138507" y="5252343"/>
            <a:ext cx="534239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Sortie compatibility matrix — which assets can fly which missions based on current RUL.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5651599"/>
            <a:ext cx="275325" cy="2753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38507" y="5698927"/>
            <a:ext cx="5342399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IBM Bob Console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138507" y="5993309"/>
            <a:ext cx="534239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Glassmorphic conversational drawer — ask natural language questions, get grounded answers.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723886" y="1343521"/>
            <a:ext cx="4838976" cy="4958655"/>
          </a:xfrm>
          <a:prstGeom prst="roundRect">
            <a:avLst>
              <a:gd name="adj" fmla="val 2049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6861499" y="1446709"/>
            <a:ext cx="4563750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Live Demo in 3 Steps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861499" y="1753989"/>
            <a:ext cx="27532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861499" y="1968798"/>
            <a:ext cx="2230282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8" name="Text 20"/>
          <p:cNvSpPr/>
          <p:nvPr/>
        </p:nvSpPr>
        <p:spPr>
          <a:xfrm>
            <a:off x="6861499" y="2075656"/>
            <a:ext cx="2230282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Open Fleet Dashboard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861499" y="2370038"/>
            <a:ext cx="2230282" cy="578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See 3 red </a:t>
            </a:r>
            <a:r>
              <a:rPr lang="en-US" sz="10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NOT READY</a:t>
            </a:r>
            <a:r>
              <a:rPr lang="en-US" sz="10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aircraft instantly — AC-003, AC-015, AC-024 flagged at a glance.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9194967" y="1753989"/>
            <a:ext cx="27532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9194967" y="1968798"/>
            <a:ext cx="2230282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32" name="Text 24"/>
          <p:cNvSpPr/>
          <p:nvPr/>
        </p:nvSpPr>
        <p:spPr>
          <a:xfrm>
            <a:off x="9194967" y="2075656"/>
            <a:ext cx="2230282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Click AC-003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9194967" y="2370038"/>
            <a:ext cx="2230282" cy="578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RUL 18.4 cycles, buffer −14.6, sensor evidence listed — s2 (LPC Temp) +2.8σ drift visible.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861499" y="3154759"/>
            <a:ext cx="27532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861499" y="3369568"/>
            <a:ext cx="4563750" cy="1905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36" name="Text 28"/>
          <p:cNvSpPr/>
          <p:nvPr/>
        </p:nvSpPr>
        <p:spPr>
          <a:xfrm>
            <a:off x="6861499" y="3476427"/>
            <a:ext cx="4563750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Ask Bob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861499" y="3770809"/>
            <a:ext cx="45637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"Which assets are not ready?" → Grounded answer with all evidence. </a:t>
            </a:r>
            <a:r>
              <a:rPr lang="en-US" sz="105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Zero hallucinations.</a:t>
            </a:r>
            <a:endParaRPr lang="en-US" sz="10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E82D18C-5C4D-1AAE-1421-B933249DE9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2743" y="6476846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99591"/>
            <a:ext cx="659292" cy="195163"/>
          </a:xfrm>
          <a:prstGeom prst="roundRect">
            <a:avLst>
              <a:gd name="adj" fmla="val 22123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11291" y="738088"/>
            <a:ext cx="1114695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4200" y="930672"/>
            <a:ext cx="10723294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25/25 Tests Passing — Fully Verified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014" y="1486595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25/25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4200" y="2042220"/>
            <a:ext cx="53053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100% Pass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4200" y="2274491"/>
            <a:ext cx="53053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tests passing. GitHub Actions validate.yml passes on every push.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7818" y="1486595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152004" y="2042220"/>
            <a:ext cx="53054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52004" y="2274491"/>
            <a:ext cx="53054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FastAPI endpoints validated with correct request/response schemas.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30014" y="2693293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9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34200" y="3248918"/>
            <a:ext cx="53053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MCP 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4200" y="3481189"/>
            <a:ext cx="53053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IBM Bob decision tools callable and integration-tested.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7818" y="2693293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152004" y="3248918"/>
            <a:ext cx="53054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Structural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52004" y="3481189"/>
            <a:ext cx="53054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compliance checks green on every CI/CD pipeline run.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3757017"/>
            <a:ext cx="3514439" cy="1243112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4279" y="3872607"/>
            <a:ext cx="154182" cy="15418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81735" y="4270871"/>
            <a:ext cx="3219369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test_data.py — 1 Test PASS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81735" y="4503142"/>
            <a:ext cx="3219369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integrity verified. Zero asset overlap across train/validation/test splits confirmed.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529" y="3757017"/>
            <a:ext cx="3514538" cy="1243112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8608" y="3872607"/>
            <a:ext cx="154182" cy="1541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86064" y="4270871"/>
            <a:ext cx="3219469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test_ml.py — 2 Tests PASS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486064" y="4503142"/>
            <a:ext cx="3219469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ML artifacts loaded successfully. Inference API output validated against expected schema.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2957" y="3757017"/>
            <a:ext cx="3514538" cy="1243112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3035" y="3872607"/>
            <a:ext cx="154182" cy="15418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90491" y="4270871"/>
            <a:ext cx="3219469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test_backend.py — 9 Tests PASS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090491" y="4503142"/>
            <a:ext cx="3219469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11 FastAPI endpoints return correct schemas. Risk and Readiness engines validated.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5090021"/>
            <a:ext cx="5316702" cy="1068388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5361" y="5205611"/>
            <a:ext cx="154182" cy="15418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81735" y="5603875"/>
            <a:ext cx="5021633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test_bob.py — 7 Tests PASS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881735" y="5836146"/>
            <a:ext cx="5021633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 MCP tools callable. All 3 mandatory question integration tests passing.</a:t>
            </a:r>
            <a:endParaRPr lang="en-US" sz="10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792" y="5090021"/>
            <a:ext cx="5316702" cy="1068388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1953" y="5205611"/>
            <a:ext cx="154182" cy="15418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288327" y="5603875"/>
            <a:ext cx="5021633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test_data_consistency.py — 6 Tests PASS</a:t>
            </a:r>
            <a:endParaRPr lang="en-US" sz="1100" dirty="0"/>
          </a:p>
        </p:txBody>
      </p:sp>
      <p:sp>
        <p:nvSpPr>
          <p:cNvPr id="36" name="Text 24"/>
          <p:cNvSpPr/>
          <p:nvPr/>
        </p:nvSpPr>
        <p:spPr>
          <a:xfrm>
            <a:off x="6288327" y="5836146"/>
            <a:ext cx="5021633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Cross-table integrity confirmed. Health score ranges validated across all assets.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81DC0E7-1073-C051-B4E7-3C11BBDB3A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71763" y="6516039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01973"/>
            <a:ext cx="1834906" cy="195163"/>
          </a:xfrm>
          <a:prstGeom prst="roundRect">
            <a:avLst>
              <a:gd name="adj" fmla="val 22123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811291" y="740470"/>
            <a:ext cx="2290308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TEAM AEROX · BOB AI HACKATHON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4200" y="933053"/>
            <a:ext cx="10723294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We Are Most Proud Of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26878" y="1525885"/>
            <a:ext cx="10530616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"MissionGuard AI doesn't just warn that an engine is degrading — it evaluates whether that engine can survive its next mission, explains the physical sensor drift in plain terms, and gives commanders an immediately actionable maintenance plan via IBM Bob."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4200" y="1424781"/>
            <a:ext cx="19050" cy="551656"/>
          </a:xfrm>
          <a:prstGeom prst="roundRect">
            <a:avLst>
              <a:gd name="adj" fmla="val 49999"/>
            </a:avLst>
          </a:prstGeom>
          <a:solidFill>
            <a:srgbClr val="A95B95"/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2077541"/>
            <a:ext cx="5316702" cy="1326753"/>
          </a:xfrm>
          <a:prstGeom prst="roundRect">
            <a:avLst>
              <a:gd name="adj" fmla="val 406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9035" y="2212380"/>
            <a:ext cx="385455" cy="385465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998" y="2318345"/>
            <a:ext cx="173430" cy="1734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9035" y="2687737"/>
            <a:ext cx="504703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End-to-End Decision Chain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9035" y="2920008"/>
            <a:ext cx="504703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One coherent system from raw sensor data to actionable copilot answer — no gaps, no handoffs.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40792" y="2077541"/>
            <a:ext cx="5316702" cy="1326753"/>
          </a:xfrm>
          <a:prstGeom prst="roundRect">
            <a:avLst>
              <a:gd name="adj" fmla="val 406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5627" y="2212380"/>
            <a:ext cx="385455" cy="385465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1590" y="2318345"/>
            <a:ext cx="173430" cy="1734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75627" y="2687737"/>
            <a:ext cx="504703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Novel Mission-Buffer Metric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275627" y="2920008"/>
            <a:ext cx="5047032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Simple, operationally meaningful. Commanders understand it instantly. No ML expertise required.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4200" y="3494187"/>
            <a:ext cx="5316702" cy="1326753"/>
          </a:xfrm>
          <a:prstGeom prst="roundRect">
            <a:avLst>
              <a:gd name="adj" fmla="val 406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9035" y="3629025"/>
            <a:ext cx="385455" cy="385465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998" y="3734991"/>
            <a:ext cx="173430" cy="1734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9035" y="4104382"/>
            <a:ext cx="504703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Zero-Leakage ML Integrity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69035" y="4336653"/>
            <a:ext cx="504703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Honest metrics on truly unseen test data. Entity-isolated splits. No shortcuts, no fabrication.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40792" y="3494187"/>
            <a:ext cx="5316702" cy="1326753"/>
          </a:xfrm>
          <a:prstGeom prst="roundRect">
            <a:avLst>
              <a:gd name="adj" fmla="val 406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75627" y="3629025"/>
            <a:ext cx="385455" cy="385465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1590" y="3734991"/>
            <a:ext cx="173430" cy="1734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75627" y="4104382"/>
            <a:ext cx="504703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Load-Bearing IBM Bob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75627" y="4336653"/>
            <a:ext cx="5047032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Every answer grounded in live database data. Zero hallucinations. Fully auditable reasoning chain.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4200" y="4954091"/>
            <a:ext cx="10723294" cy="19050"/>
          </a:xfrm>
          <a:prstGeom prst="roundRect">
            <a:avLst>
              <a:gd name="adj" fmla="val 49999"/>
            </a:avLst>
          </a:prstGeom>
          <a:solidFill>
            <a:srgbClr val="DAD8E9">
              <a:alpha val="5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34200" y="5140027"/>
            <a:ext cx="10723294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734200" y="5631755"/>
            <a:ext cx="10723294" cy="524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Team AeroX</a:t>
            </a: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· BOB AI Hackathon 2026 · Challenge D1 — Defense &amp; Aerospace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Dhruvi Kundariya (Lead) · Marshal Godhani · Shivam Joshi · Shreya Adroja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b="1" u="sng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github.com/ShivamJoshi7906/bob-ai-hackathon-AeroX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FBECB0-4541-7C6B-A861-CC87228F3F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1235" y="6545553"/>
            <a:ext cx="1120237" cy="312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A95B9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1532</Words>
  <Application>Microsoft Office PowerPoint</Application>
  <PresentationFormat>Widescreen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Twemoji Mozilla</vt:lpstr>
      <vt:lpstr>Prompt Light</vt:lpstr>
      <vt:lpstr>Mukta Light</vt:lpstr>
      <vt:lpstr>Mukta Bold</vt:lpstr>
      <vt:lpstr>Prompt Medium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SHIVAM</dc:creator>
  <cp:lastModifiedBy>Shivam Joshi</cp:lastModifiedBy>
  <cp:revision>2</cp:revision>
  <dcterms:created xsi:type="dcterms:W3CDTF">2026-09-14T19:34:02Z</dcterms:created>
  <dcterms:modified xsi:type="dcterms:W3CDTF">2026-09-14T19:36:39Z</dcterms:modified>
</cp:coreProperties>
</file>